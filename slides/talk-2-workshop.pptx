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371600" cy="54864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AI Workshop</a:t>
            </a:r>
          </a:p>
          <a:p>
            <a:pPr algn="l">
              <a:spcBef>
                <a:spcPts val="400"/>
              </a:spcBef>
              <a:defRPr sz="3600" b="0">
                <a:solidFill>
                  <a:srgbClr val="FF6B35"/>
                </a:solidFill>
                <a:latin typeface="Calibri"/>
              </a:defRPr>
            </a:pPr>
            <a:r>
              <a:t>Hands-On with Real Business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BBBCC"/>
                </a:solidFill>
                <a:latin typeface="Calibri"/>
              </a:defRPr>
            </a:pPr>
            <a:r>
              <a:t>Enriched Solutions  •  Ali Sherazi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Before We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Tools &amp; accounts you'll need to 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Claude (claude.ai)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Our primary tool — logged in with a fresh chat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Perplexity Pro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For research with cited sources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Gamma.app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To turn text into designed slides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A sense of adventure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Everything is live — things might break!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1: Financial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📊  Turn messy financials into an 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Company: GreenPulse Ltd — early-stage clean energy startup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Problem: 12 months of messy P&amp;L data — mixed currencies, missing values, bad formatting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Goal: Clean it, calculate key ratios, produce a board-ready executive summary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Time to do this manually: 2–3 hours with a financial analyst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5"/>
                </a:solidFill>
                <a:latin typeface="Calibri"/>
              </a:defRPr>
            </a:pPr>
            <a:r>
              <a:t>Use Case 1 — The Prompt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1247120" cy="530352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3A3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0E8F0"/>
                </a:solidFill>
                <a:latin typeface="Consolas"/>
              </a:defRPr>
            </a:pPr>
            <a:r>
              <a:t>I've uploaded a 12-month P&amp;L spreadsheet for GreenPulse Ltd, an early-stage clean energy startup. The data is messy — inconsistent date formats, some values in GBP and others in EUR (use 1 EUR = 0.86 GBP), missing values, and inconsistent formatting.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Please: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1. Clean the data — standardise to GBP, fix formatting, flag missing values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2. Calculate: Gross margin %, EBITDA margin %, monthly burn rate, revenue growth rate, runway estimate (£420K cash)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3. Identify the 3 most important trends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4. Produce a clean summary table (12 months + annual totals)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5. Write a 200-word board-ready executive summary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Be specific with numbers — no vague statements.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1: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📊  What to notice in the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Specificity is everything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Detailed prompt → analyst-quality output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Iterate, don't expect perfection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Follow up: charts, risk matrix, board summary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Context matters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We told it the company type, exchange rate, exact metrics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The 80% rule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AI gets you 80% there — your expertise finishes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2: Contract Drafting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📝  From brief to legal agreement in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Scenario: Draft a professional services agreement for a consulting engagement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Client: NovaTech Solutions (£45M manufacturing company, digital transformation)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Provider: Meridian Consulting — 6 months, £75,000 + VAT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Goal: Full 12-section legal contract from a one-paragraph brief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5"/>
                </a:solidFill>
                <a:latin typeface="Calibri"/>
              </a:defRPr>
            </a:pPr>
            <a:r>
              <a:t>Use Case 2 — The Prompt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1247120" cy="530352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3A3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0E8F0"/>
                </a:solidFill>
                <a:latin typeface="Consolas"/>
              </a:defRPr>
            </a:pPr>
            <a:r>
              <a:t>Draft a Professional Services Agreement: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Provider: Meridian Consulting Ltd, 45 King Street, London EC2V 8QA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Client: NovaTech Solutions Ltd, 12 Innovation Park, Manchester M1 3BB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Scope: Digital transformation advisory — assessment, roadmap, vendor selection, implementation oversight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Duration: 6 months from 1 April 2026, extendable by mutual agreement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Fee: £75,000, 6 monthly instalments of £12,500 + VAT, due within 14 days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Key Personnel: Lead Consultant (10+ yrs) + Senior Analyst, no substitution without approval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Terms: Remote-first, monthly on-site Manchester visits, 30 days termination notice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Include: Definitions, Scope, Duration, Fees (+ late payment), Personnel, Client Obligations, Confidentiality, IP, Limitation of Liability, Termination, Dispute Resolution, General Provisions.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Use formal legal English. Comprehensive but not verbose. Ready for solicitor review.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2: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📝  What to notice in the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Structure your request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Specifying 12 sections prevents missed clauses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Iterate for negotiation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Shift contract balance with a single follow-up prompt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Plain English on demand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Simplify legal jargon while keeping enforceability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Still need a lawyer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AI drafts, humans review — this saves days, not replaces expertise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3: Brand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🎨  Create a complete brand identity from a text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Company: Aether — AI-powered air quality monitoring for smart cities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Audience: City councils, property developers, health-conscious professionals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Brand feel: Clean, scientific, trustworthy, 'calm technology'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Goal: Logo, colour palette, typography, business card mockup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5"/>
                </a:solidFill>
                <a:latin typeface="Calibri"/>
              </a:defRPr>
            </a:pPr>
            <a:r>
              <a:t>Use Case 3 — The Prompt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1247120" cy="530352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3A3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0E8F0"/>
                </a:solidFill>
                <a:latin typeface="Consolas"/>
              </a:defRPr>
            </a:pPr>
            <a:r>
              <a:t>Build a brand identity for "Aether" — an AI-powered air quality monitoring platform for smart cities. Target: city councils, property developers, health-conscious urban professionals.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Brand feel: clean, scientific, trustworthy, slightly futuristic — "calm technology."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Generate a logo: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- Modern logomark (icon + wordmark)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- Icon: abstractly represents air/atmosphere — flowing lines, gradients, stylised "A"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- Palette: deep teal/navy primary, fresh green or sky blue accent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- Clean sans-serif typeface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- Works on white and dark backgrounds, at small sizes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Style: minimal, geometric, professional. Think Stripe, Linear, Notion.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NOT cartoonish, not complex.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3: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🎨  What to notice in the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Reference brands set the bar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Naming Stripe/Linear/Notion guides the AI's aesthetic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Say what you DON'T want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'Not cartoonish, not complex' constrains the creative space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Build incrementally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Logo → refine → palette → typography → mockup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A brief for your designer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Not a finished identity — a solid starting direction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4: Market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🔍  Deep research with citations, not hallucinations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Market: UK sustainable packaging industry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Tool: Perplexity Pro — real-time web search with cited sources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Goal: Market size, competitors, trends, SWOT, TAM/SAM/SOM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The difference: Every claim links to a real, verifiable source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5"/>
                </a:solidFill>
                <a:latin typeface="Calibri"/>
              </a:defRPr>
            </a:pPr>
            <a:r>
              <a:t>Use Case 4 — The Prompt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1247120" cy="530352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3A3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0E8F0"/>
                </a:solidFill>
                <a:latin typeface="Consolas"/>
              </a:defRPr>
            </a:pPr>
            <a:r>
              <a:t>Comprehensive market research: UK sustainable packaging industry (2026).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1. Market Overview: Size (£), growth rate (CAGR), projected 2030 size.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   Segments: biodegradable plastics, paper/cardboard, reusable packaging, edible/dissolvable.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2. Key Drivers: Regulatory (UK Plastic Packaging Tax, EPR), consumer demand, retailer commitments (name companies), tech advances.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3. Competitive Landscape: Top 10 UK companies — focus area, revenue/funding, differentiator.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4. Challenges: Cost premiums, performance limits, supply chain, greenwashing.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5. Trends 2026-2028: Emerging materials, AI in packaging, circular economy, D2C shifts.</a:t>
            </a: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300">
                <a:solidFill>
                  <a:srgbClr val="E0E8F0"/>
                </a:solidFill>
                <a:latin typeface="Consolas"/>
              </a:defRPr>
            </a:pPr>
            <a:r>
              <a:t>Cite all statistics with sources. Professional tone for a board strategy presentation.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4: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🔍  What to notice in the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Sources make it real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Every stat links to a verifiable article or report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Start broad, drill deep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Market overview → SWOT → competitive threat → TAM/SAM/SOM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Not a McKinsey report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But 70-80% of the way there in 90 seconds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Verify before you present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Click the citations — trust but verify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5: Investor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🚀  From a napkin idea to a designed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Startup: Aether — smart city air quality monitoring (the brand we just created!)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Round: Seed, raising £4M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Goal: 12-slide pitch deck — then design it with Gamma.app</a:t>
            </a:r>
          </a:p>
          <a:p>
            <a:pPr>
              <a:spcBef>
                <a:spcPts val="10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▸ Two AI tools working together: Claude for content, Gamma for design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5"/>
                </a:solidFill>
                <a:latin typeface="Calibri"/>
              </a:defRPr>
            </a:pPr>
            <a:r>
              <a:t>Use Case 5 — The Prompt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1247120" cy="5303520"/>
          </a:xfrm>
          <a:prstGeom prst="roundRect">
            <a:avLst/>
          </a:prstGeom>
          <a:solidFill>
            <a:srgbClr val="2A2E3E"/>
          </a:solidFill>
          <a:ln w="12700">
            <a:solidFill>
              <a:srgbClr val="3A3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0E8F0"/>
                </a:solidFill>
                <a:latin typeface="Consolas"/>
              </a:defRPr>
            </a:pPr>
            <a:r>
              <a:t>Create a 12-slide investor pitch deck for Aether (Seed round, raising £4M):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Aether: B2B SaaS — IoT sensors + AI analytics for real-time hyperlocal air quality monitoring. 3 pilot cities, £1.2M pre-seed, team of 4 (ex-Dyson, ex-DeepMind, ex-Capita, ex-Octopus Energy).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Slides: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1. Title — name, tagline, one-liner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2. The Problem — 36K deaths/year in UK. Emotional + urgent.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3. The Solution — What Aether does, simply.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4. How It Works — 3 simple steps.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5. Market Opportunity — size, growth, why now.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6. Traction — 3 pilots, key metrics, testimonials.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7. Business Model — pricing tiers.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8. Competitive Landscape — 2x2 matrix.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9. The Team — founders + credentials.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10. Go-to-Market — 12-month plan.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11. Financials — 3-year forecast.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12. The Ask — £4M, use of funds, milestones.</a:t>
            </a: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100">
                <a:solidFill>
                  <a:srgbClr val="E0E8F0"/>
                </a:solidFill>
                <a:latin typeface="Consolas"/>
              </a:defRPr>
            </a:pPr>
            <a:r>
              <a:t>Each slide: headline, 2-4 bullet points, visual suggestion. Confident, investor-facing tone.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5: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Calibri"/>
              </a:defRPr>
            </a:pPr>
            <a:r>
              <a:t>🚀  What to notice in the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Structure drives quality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Specifying each slide = less editing later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Chain your tools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Claude writes content → Gamma designs slides → done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Storytelling matters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Ask for emotional framing, not just facts</a:t>
            </a:r>
          </a:p>
          <a:p>
            <a:pPr>
              <a:spcBef>
                <a:spcPts val="10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▸ A starting point, not a final deck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Refine with your own expertise and judgement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6B35"/>
                </a:solidFill>
                <a:latin typeface="Calibri"/>
              </a:defRPr>
            </a:pPr>
            <a:r>
              <a:t>▸  AI is an accelerator, not a replacement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It gets you 70-80% there. Your expertise finishes the job.</a:t>
            </a:r>
          </a:p>
          <a:p>
            <a:pPr>
              <a:spcBef>
                <a:spcPts val="1600"/>
              </a:spcBef>
              <a:defRPr sz="2200" b="1">
                <a:solidFill>
                  <a:srgbClr val="FF6B35"/>
                </a:solidFill>
                <a:latin typeface="Calibri"/>
              </a:defRPr>
            </a:pPr>
            <a:r>
              <a:t>▸  Specificity is everything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Vague prompt → vague answer. Detailed prompt → professional output.</a:t>
            </a:r>
          </a:p>
          <a:p>
            <a:pPr>
              <a:spcBef>
                <a:spcPts val="1600"/>
              </a:spcBef>
              <a:defRPr sz="2200" b="1">
                <a:solidFill>
                  <a:srgbClr val="FF6B35"/>
                </a:solidFill>
                <a:latin typeface="Calibri"/>
              </a:defRPr>
            </a:pPr>
            <a:r>
              <a:t>▸  Iterate, don't expect magic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The real power is in the follow-up prompts — refine, drill down, reshape.</a:t>
            </a:r>
          </a:p>
          <a:p>
            <a:pPr>
              <a:spcBef>
                <a:spcPts val="1600"/>
              </a:spcBef>
              <a:defRPr sz="2200" b="1">
                <a:solidFill>
                  <a:srgbClr val="FF6B35"/>
                </a:solidFill>
                <a:latin typeface="Calibri"/>
              </a:defRPr>
            </a:pPr>
            <a:r>
              <a:t>▸  Tools are available today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Everything we used is available right now — most with free tiers.</a:t>
            </a:r>
          </a:p>
          <a:p>
            <a:pPr>
              <a:spcBef>
                <a:spcPts val="1600"/>
              </a:spcBef>
              <a:defRPr sz="2200" b="1">
                <a:solidFill>
                  <a:srgbClr val="FF6B35"/>
                </a:solidFill>
                <a:latin typeface="Calibri"/>
              </a:defRPr>
            </a:pPr>
            <a:r>
              <a:t>▸  Start with one task</a:t>
            </a:r>
          </a:p>
          <a:p>
            <a:pPr>
              <a:spcBef>
                <a:spcPts val="200"/>
              </a:spcBef>
              <a:defRPr sz="1800">
                <a:solidFill>
                  <a:srgbClr val="BBBBCC"/>
                </a:solidFill>
                <a:latin typeface="Calibri"/>
              </a:defRPr>
            </a:pPr>
            <a:r>
              <a:t>    Pick the most repetitive part of your week. Try AI on it tomorrow.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474720"/>
            <a:ext cx="2103120" cy="54864"/>
          </a:xfrm>
          <a:prstGeom prst="rect">
            <a:avLst/>
          </a:prstGeom>
          <a:solidFill>
            <a:srgbClr val="0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1">
                <a:solidFill>
                  <a:srgbClr val="BBBBCC"/>
                </a:solidFill>
                <a:latin typeface="Calibri"/>
              </a:defRPr>
            </a:pPr>
            <a:r>
              <a:t>"AI won't replace you. But someone using AI might.</a:t>
            </a:r>
            <a:br/>
            <a:r>
              <a:t>That's why we're here tonight."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Resources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9144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200" b="1">
                <a:solidFill>
                  <a:srgbClr val="FF6B35"/>
                </a:solidFill>
                <a:latin typeface="Calibri"/>
              </a:defRPr>
            </a:pPr>
            <a:r>
              <a:t>Try Tonight (Free)</a:t>
            </a:r>
          </a:p>
          <a:p>
            <a:pPr>
              <a:spcBef>
                <a:spcPts val="800"/>
              </a:spcBef>
              <a:defRPr sz="2000" b="1">
                <a:solidFill>
                  <a:srgbClr val="00D4F5"/>
                </a:solidFill>
                <a:latin typeface="Calibri"/>
              </a:defRPr>
            </a:pPr>
            <a:r>
              <a:t>▸  claude.ai</a:t>
            </a:r>
          </a:p>
          <a:p>
            <a:pPr>
              <a:spcBef>
                <a:spcPts val="200"/>
              </a:spcBef>
              <a:defRPr sz="1600">
                <a:solidFill>
                  <a:srgbClr val="BBBBCC"/>
                </a:solidFill>
                <a:latin typeface="Calibri"/>
              </a:defRPr>
            </a:pPr>
            <a:r>
              <a:t>    Best for documents, analysis, and reasoning</a:t>
            </a:r>
          </a:p>
          <a:p>
            <a:pPr>
              <a:spcBef>
                <a:spcPts val="800"/>
              </a:spcBef>
              <a:defRPr sz="2000" b="1">
                <a:solidFill>
                  <a:srgbClr val="00D4F5"/>
                </a:solidFill>
                <a:latin typeface="Calibri"/>
              </a:defRPr>
            </a:pPr>
            <a:r>
              <a:t>▸  chatgpt.com</a:t>
            </a:r>
          </a:p>
          <a:p>
            <a:pPr>
              <a:spcBef>
                <a:spcPts val="200"/>
              </a:spcBef>
              <a:defRPr sz="1600">
                <a:solidFill>
                  <a:srgbClr val="BBBBCC"/>
                </a:solidFill>
                <a:latin typeface="Calibri"/>
              </a:defRPr>
            </a:pPr>
            <a:r>
              <a:t>    Best all-rounder, image generation</a:t>
            </a:r>
          </a:p>
          <a:p>
            <a:pPr>
              <a:spcBef>
                <a:spcPts val="800"/>
              </a:spcBef>
              <a:defRPr sz="2000" b="1">
                <a:solidFill>
                  <a:srgbClr val="00D4F5"/>
                </a:solidFill>
                <a:latin typeface="Calibri"/>
              </a:defRPr>
            </a:pPr>
            <a:r>
              <a:t>▸  perplexity.ai</a:t>
            </a:r>
          </a:p>
          <a:p>
            <a:pPr>
              <a:spcBef>
                <a:spcPts val="200"/>
              </a:spcBef>
              <a:defRPr sz="1600">
                <a:solidFill>
                  <a:srgbClr val="BBBBCC"/>
                </a:solidFill>
                <a:latin typeface="Calibri"/>
              </a:defRPr>
            </a:pPr>
            <a:r>
              <a:t>    Research with cited sources</a:t>
            </a:r>
          </a:p>
          <a:p>
            <a:pPr>
              <a:spcBef>
                <a:spcPts val="800"/>
              </a:spcBef>
              <a:defRPr sz="2000" b="1">
                <a:solidFill>
                  <a:srgbClr val="00D4F5"/>
                </a:solidFill>
                <a:latin typeface="Calibri"/>
              </a:defRPr>
            </a:pPr>
            <a:r>
              <a:t>▸  gamma.app</a:t>
            </a:r>
          </a:p>
          <a:p>
            <a:pPr>
              <a:spcBef>
                <a:spcPts val="200"/>
              </a:spcBef>
              <a:defRPr sz="1600">
                <a:solidFill>
                  <a:srgbClr val="BBBBCC"/>
                </a:solidFill>
                <a:latin typeface="Calibri"/>
              </a:defRPr>
            </a:pPr>
            <a:r>
              <a:t>    Turn text into designed presentations</a:t>
            </a:r>
          </a:p>
          <a:p>
            <a:pPr>
              <a:spcBef>
                <a:spcPts val="800"/>
              </a:spcBef>
              <a:defRPr sz="800"/>
            </a:pPr>
          </a:p>
          <a:p>
            <a:pPr>
              <a:spcBef>
                <a:spcPts val="2000"/>
              </a:spcBef>
              <a:defRPr sz="2200" b="1">
                <a:solidFill>
                  <a:srgbClr val="FF6B35"/>
                </a:solidFill>
                <a:latin typeface="Calibri"/>
              </a:defRPr>
            </a:pPr>
            <a:r>
              <a:t>Get in Touch</a:t>
            </a:r>
          </a:p>
          <a:p>
            <a:pPr>
              <a:spcBef>
                <a:spcPts val="800"/>
              </a:spcBef>
              <a:defRPr sz="2000" b="1">
                <a:solidFill>
                  <a:srgbClr val="00D4F5"/>
                </a:solidFill>
                <a:latin typeface="Calibri"/>
              </a:defRPr>
            </a:pPr>
            <a:r>
              <a:t>▸  Enriched Solutions</a:t>
            </a:r>
          </a:p>
          <a:p>
            <a:pPr>
              <a:spcBef>
                <a:spcPts val="200"/>
              </a:spcBef>
              <a:defRPr sz="1600">
                <a:solidFill>
                  <a:srgbClr val="BBBBCC"/>
                </a:solidFill>
                <a:latin typeface="Calibri"/>
              </a:defRPr>
            </a:pPr>
            <a:r>
              <a:t>    enrichedsolutions.co.uk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888899"/>
                </a:solidFill>
                <a:latin typeface="Calibri"/>
              </a:defRPr>
            </a:pPr>
            <a:r>
              <a:t>"You cannot change the wind, but working together, we can adjust the sails"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