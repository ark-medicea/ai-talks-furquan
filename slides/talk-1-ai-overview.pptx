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194560"/>
            <a:ext cx="1371600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37744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>
                <a:solidFill>
                  <a:srgbClr val="FFFFFF"/>
                </a:solidFill>
                <a:latin typeface="Calibri"/>
              </a:defRPr>
            </a:pPr>
            <a:r>
              <a:t>AI in 2026</a:t>
            </a:r>
          </a:p>
          <a:p>
            <a:pPr algn="l">
              <a:spcBef>
                <a:spcPts val="400"/>
              </a:spcBef>
              <a:defRPr sz="4000" b="0">
                <a:solidFill>
                  <a:srgbClr val="00D4F5"/>
                </a:solidFill>
                <a:latin typeface="Calibri"/>
              </a:defRPr>
            </a:pPr>
            <a:r>
              <a:t>What You Need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1148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BBBBCC"/>
                </a:solidFill>
                <a:latin typeface="Calibri"/>
              </a:defRPr>
            </a:pPr>
            <a:r>
              <a:t>Enriched Solutions  •  Ali Sherazi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7548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88899"/>
                </a:solidFill>
                <a:latin typeface="Calibri"/>
              </a:defRPr>
            </a:pPr>
            <a:r>
              <a:t>"You cannot change the wind, but working together, we can adjust the sails"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73152" cy="548640"/>
          </a:xfrm>
          <a:prstGeom prst="rect">
            <a:avLst/>
          </a:prstGeom>
          <a:solidFill>
            <a:srgbClr val="0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45720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Calibri"/>
              </a:defRPr>
            </a:pPr>
            <a:r>
              <a:t>The Big Picture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371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6B35"/>
                </a:solidFill>
                <a:latin typeface="Calibri"/>
              </a:defRPr>
            </a:pPr>
            <a:r>
              <a:t>Models are the engine. Tools are the car.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2286000"/>
            <a:ext cx="3108960" cy="3474720"/>
          </a:xfrm>
          <a:prstGeom prst="roundRect">
            <a:avLst/>
          </a:prstGeom>
          <a:solidFill>
            <a:srgbClr val="2A2E3E"/>
          </a:solidFill>
          <a:ln w="12700">
            <a:solidFill>
              <a:srgbClr val="3A3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46888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D4F5"/>
                </a:solidFill>
                <a:latin typeface="Calibri"/>
              </a:defRPr>
            </a:pPr>
            <a:r>
              <a:t>🏢  Companies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10896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DDDDEE"/>
                </a:solidFill>
                <a:latin typeface="Calibri"/>
              </a:defRPr>
            </a:pPr>
            <a:r>
              <a:t>OpenAI, Google, Anthropic,</a:t>
            </a:r>
            <a:br/>
            <a:r>
              <a:t>Meta, xAI, Perplexity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47548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35"/>
                </a:solidFill>
                <a:latin typeface="Calibri"/>
              </a:defRPr>
            </a:pPr>
            <a:r>
              <a:t>Build the AI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2286000"/>
            <a:ext cx="3108960" cy="3474720"/>
          </a:xfrm>
          <a:prstGeom prst="roundRect">
            <a:avLst/>
          </a:prstGeom>
          <a:solidFill>
            <a:srgbClr val="2A2E3E"/>
          </a:solidFill>
          <a:ln w="12700">
            <a:solidFill>
              <a:srgbClr val="3A3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0" y="246888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D4F5"/>
                </a:solidFill>
                <a:latin typeface="Calibri"/>
              </a:defRPr>
            </a:pPr>
            <a:r>
              <a:t>🧠  Models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310896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DDDDEE"/>
                </a:solidFill>
                <a:latin typeface="Calibri"/>
              </a:defRPr>
            </a:pPr>
            <a:r>
              <a:t>GPT-5, Gemini, Claude,</a:t>
            </a:r>
            <a:br/>
            <a:r>
              <a:t>Llama 4, Grok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47548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35"/>
                </a:solidFill>
                <a:latin typeface="Calibri"/>
              </a:defRPr>
            </a:pPr>
            <a:r>
              <a:t>The intelligence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9" y="2286000"/>
            <a:ext cx="3108960" cy="3474720"/>
          </a:xfrm>
          <a:prstGeom prst="roundRect">
            <a:avLst/>
          </a:prstGeom>
          <a:solidFill>
            <a:srgbClr val="2A2E3E"/>
          </a:solidFill>
          <a:ln w="12700">
            <a:solidFill>
              <a:srgbClr val="3A3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9" y="246888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D4F5"/>
                </a:solidFill>
                <a:latin typeface="Calibri"/>
              </a:defRPr>
            </a:pPr>
            <a:r>
              <a:t>🔧  Tools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9" y="310896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DDDDEE"/>
                </a:solidFill>
                <a:latin typeface="Calibri"/>
              </a:defRPr>
            </a:pPr>
            <a:r>
              <a:t>ChatGPT, Cursor, Copilot,</a:t>
            </a:r>
            <a:br/>
            <a:r>
              <a:t>claude.ai, Perplexity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9" y="47548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35"/>
                </a:solidFill>
                <a:latin typeface="Calibri"/>
              </a:defRPr>
            </a:pPr>
            <a:r>
              <a:t>How you use 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34747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6B35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34747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6B35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60350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1">
                <a:solidFill>
                  <a:srgbClr val="BBBBCC"/>
                </a:solidFill>
                <a:latin typeface="Calibri"/>
              </a:defRPr>
            </a:pPr>
            <a:r>
              <a:t>Many tools let you swap models — like choosing which engine goes in your car.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73152" cy="457200"/>
          </a:xfrm>
          <a:prstGeom prst="rect">
            <a:avLst/>
          </a:prstGeom>
          <a:solidFill>
            <a:srgbClr val="0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The AI Landscape: Who's Who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097280"/>
          <a:ext cx="107899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560320"/>
                <a:gridCol w="2011680"/>
                <a:gridCol w="4572000"/>
              </a:tblGrid>
              <a:tr h="718457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Company</a:t>
                      </a:r>
                    </a:p>
                  </a:txBody>
                  <a:tcPr marL="73152" marR="73152" marT="36576" marB="36576">
                    <a:solidFill>
                      <a:srgbClr val="25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 marL="73152" marR="73152" marT="36576" marB="36576">
                    <a:solidFill>
                      <a:srgbClr val="25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Tool</a:t>
                      </a:r>
                    </a:p>
                  </a:txBody>
                  <a:tcPr marL="73152" marR="73152" marT="36576" marB="36576">
                    <a:solidFill>
                      <a:srgbClr val="25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Known For</a:t>
                      </a:r>
                    </a:p>
                  </a:txBody>
                  <a:tcPr marL="73152" marR="73152" marT="36576" marB="36576">
                    <a:solidFill>
                      <a:srgbClr val="252A3A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6B35"/>
                          </a:solidFill>
                          <a:latin typeface="Calibri"/>
                        </a:defRPr>
                      </a:pPr>
                      <a:r>
                        <a:t>OpenAI</a:t>
                      </a:r>
                    </a:p>
                  </a:txBody>
                  <a:tcPr marL="73152" marR="73152" marT="36576" marB="36576">
                    <a:solidFill>
                      <a:srgbClr val="1E22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DDDEE"/>
                          </a:solidFill>
                          <a:latin typeface="Calibri"/>
                        </a:defRPr>
                      </a:pPr>
                      <a:r>
                        <a:t>GPT-4o, GPT-5, o3</a:t>
                      </a:r>
                    </a:p>
                  </a:txBody>
                  <a:tcPr marL="73152" marR="73152" marT="36576" marB="36576">
                    <a:solidFill>
                      <a:srgbClr val="1E22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DDDEE"/>
                          </a:solidFill>
                          <a:latin typeface="Calibri"/>
                        </a:defRPr>
                      </a:pPr>
                      <a:r>
                        <a:t>ChatGPT</a:t>
                      </a:r>
                    </a:p>
                  </a:txBody>
                  <a:tcPr marL="73152" marR="73152" marT="36576" marB="36576">
                    <a:solidFill>
                      <a:srgbClr val="1E22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DDDEE"/>
                          </a:solidFill>
                          <a:latin typeface="Calibri"/>
                        </a:defRPr>
                      </a:pPr>
                      <a:r>
                        <a:t>The household name. Best all-rounder</a:t>
                      </a:r>
                    </a:p>
                  </a:txBody>
                  <a:tcPr marL="73152" marR="73152" marT="36576" marB="36576">
                    <a:solidFill>
                      <a:srgbClr val="1E2232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6B35"/>
                          </a:solidFill>
                          <a:latin typeface="Calibri"/>
                        </a:defRPr>
                      </a:pPr>
                      <a:r>
                        <a:t>Google</a:t>
                      </a:r>
                    </a:p>
                  </a:txBody>
                  <a:tcPr marL="73152" marR="73152" marT="36576" marB="36576">
                    <a:solidFill>
                      <a:srgbClr val="1A1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DDDEE"/>
                          </a:solidFill>
                          <a:latin typeface="Calibri"/>
                        </a:defRPr>
                      </a:pPr>
                      <a:r>
                        <a:t>Gemini 2.5, Gemini 3</a:t>
                      </a:r>
                    </a:p>
                  </a:txBody>
                  <a:tcPr marL="73152" marR="73152" marT="36576" marB="36576">
                    <a:solidFill>
                      <a:srgbClr val="1A1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DDDEE"/>
                          </a:solidFill>
                          <a:latin typeface="Calibri"/>
                        </a:defRPr>
                      </a:pPr>
                      <a:r>
                        <a:t>Gemini app</a:t>
                      </a:r>
                    </a:p>
                  </a:txBody>
                  <a:tcPr marL="73152" marR="73152" marT="36576" marB="36576">
                    <a:solidFill>
                      <a:srgbClr val="1A1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DDDEE"/>
                          </a:solidFill>
                          <a:latin typeface="Calibri"/>
                        </a:defRPr>
                      </a:pPr>
                      <a:r>
                        <a:t>Baked into Gmail, Docs, Sheets</a:t>
                      </a:r>
                    </a:p>
                  </a:txBody>
                  <a:tcPr marL="73152" marR="73152" marT="36576" marB="36576">
                    <a:solidFill>
                      <a:srgbClr val="1A1E2E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6B35"/>
                          </a:solidFill>
                          <a:latin typeface="Calibri"/>
                        </a:defRPr>
                      </a:pPr>
                      <a:r>
                        <a:t>Anthropic</a:t>
                      </a:r>
                    </a:p>
                  </a:txBody>
                  <a:tcPr marL="73152" marR="73152" marT="36576" marB="36576">
                    <a:solidFill>
                      <a:srgbClr val="1E22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DDDEE"/>
                          </a:solidFill>
                          <a:latin typeface="Calibri"/>
                        </a:defRPr>
                      </a:pPr>
                      <a:r>
                        <a:t>Claude Opus 4, Sonnet 4</a:t>
                      </a:r>
                    </a:p>
                  </a:txBody>
                  <a:tcPr marL="73152" marR="73152" marT="36576" marB="36576">
                    <a:solidFill>
                      <a:srgbClr val="1E22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DDDEE"/>
                          </a:solidFill>
                          <a:latin typeface="Calibri"/>
                        </a:defRPr>
                      </a:pPr>
                      <a:r>
                        <a:t>claude.ai</a:t>
                      </a:r>
                    </a:p>
                  </a:txBody>
                  <a:tcPr marL="73152" marR="73152" marT="36576" marB="36576">
                    <a:solidFill>
                      <a:srgbClr val="1E22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DDDEE"/>
                          </a:solidFill>
                          <a:latin typeface="Calibri"/>
                        </a:defRPr>
                      </a:pPr>
                      <a:r>
                        <a:t>Long docs, analysis, careful reasoning</a:t>
                      </a:r>
                    </a:p>
                  </a:txBody>
                  <a:tcPr marL="73152" marR="73152" marT="36576" marB="36576">
                    <a:solidFill>
                      <a:srgbClr val="1E2232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6B35"/>
                          </a:solidFill>
                          <a:latin typeface="Calibri"/>
                        </a:defRPr>
                      </a:pPr>
                      <a:r>
                        <a:t>Meta</a:t>
                      </a:r>
                    </a:p>
                  </a:txBody>
                  <a:tcPr marL="73152" marR="73152" marT="36576" marB="36576">
                    <a:solidFill>
                      <a:srgbClr val="1A1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DDDEE"/>
                          </a:solidFill>
                          <a:latin typeface="Calibri"/>
                        </a:defRPr>
                      </a:pPr>
                      <a:r>
                        <a:t>Llama 4 (open-source)</a:t>
                      </a:r>
                    </a:p>
                  </a:txBody>
                  <a:tcPr marL="73152" marR="73152" marT="36576" marB="36576">
                    <a:solidFill>
                      <a:srgbClr val="1A1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DDDEE"/>
                          </a:solidFill>
                          <a:latin typeface="Calibri"/>
                        </a:defRPr>
                      </a:pPr>
                      <a:r>
                        <a:t>Many platforms</a:t>
                      </a:r>
                    </a:p>
                  </a:txBody>
                  <a:tcPr marL="73152" marR="73152" marT="36576" marB="36576">
                    <a:solidFill>
                      <a:srgbClr val="1A1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DDDEE"/>
                          </a:solidFill>
                          <a:latin typeface="Calibri"/>
                        </a:defRPr>
                      </a:pPr>
                      <a:r>
                        <a:t>Free and open — anyone can build with it</a:t>
                      </a:r>
                    </a:p>
                  </a:txBody>
                  <a:tcPr marL="73152" marR="73152" marT="36576" marB="36576">
                    <a:solidFill>
                      <a:srgbClr val="1A1E2E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6B35"/>
                          </a:solidFill>
                          <a:latin typeface="Calibri"/>
                        </a:defRPr>
                      </a:pPr>
                      <a:r>
                        <a:t>xAI</a:t>
                      </a:r>
                    </a:p>
                  </a:txBody>
                  <a:tcPr marL="73152" marR="73152" marT="36576" marB="36576">
                    <a:solidFill>
                      <a:srgbClr val="1E22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DDDEE"/>
                          </a:solidFill>
                          <a:latin typeface="Calibri"/>
                        </a:defRPr>
                      </a:pPr>
                      <a:r>
                        <a:t>Grok 3</a:t>
                      </a:r>
                    </a:p>
                  </a:txBody>
                  <a:tcPr marL="73152" marR="73152" marT="36576" marB="36576">
                    <a:solidFill>
                      <a:srgbClr val="1E22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DDDEE"/>
                          </a:solidFill>
                          <a:latin typeface="Calibri"/>
                        </a:defRPr>
                      </a:pPr>
                      <a:r>
                        <a:t>X (Twitter)</a:t>
                      </a:r>
                    </a:p>
                  </a:txBody>
                  <a:tcPr marL="73152" marR="73152" marT="36576" marB="36576">
                    <a:solidFill>
                      <a:srgbClr val="1E22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DDDEE"/>
                          </a:solidFill>
                          <a:latin typeface="Calibri"/>
                        </a:defRPr>
                      </a:pPr>
                      <a:r>
                        <a:t>Real-time info, social media integrated</a:t>
                      </a:r>
                    </a:p>
                  </a:txBody>
                  <a:tcPr marL="73152" marR="73152" marT="36576" marB="36576">
                    <a:solidFill>
                      <a:srgbClr val="1E2232"/>
                    </a:solidFill>
                  </a:tcPr>
                </a:tc>
              </a:tr>
              <a:tr h="71845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6B35"/>
                          </a:solidFill>
                          <a:latin typeface="Calibri"/>
                        </a:defRPr>
                      </a:pPr>
                      <a:r>
                        <a:t>Perplexity</a:t>
                      </a:r>
                    </a:p>
                  </a:txBody>
                  <a:tcPr marL="73152" marR="73152" marT="36576" marB="36576">
                    <a:solidFill>
                      <a:srgbClr val="1A1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DDDEE"/>
                          </a:solidFill>
                          <a:latin typeface="Calibri"/>
                        </a:defRPr>
                      </a:pPr>
                      <a:r>
                        <a:t>Multiple models</a:t>
                      </a:r>
                    </a:p>
                  </a:txBody>
                  <a:tcPr marL="73152" marR="73152" marT="36576" marB="36576">
                    <a:solidFill>
                      <a:srgbClr val="1A1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DDDEE"/>
                          </a:solidFill>
                          <a:latin typeface="Calibri"/>
                        </a:defRPr>
                      </a:pPr>
                      <a:r>
                        <a:t>perplexity.ai</a:t>
                      </a:r>
                    </a:p>
                  </a:txBody>
                  <a:tcPr marL="73152" marR="73152" marT="36576" marB="36576">
                    <a:solidFill>
                      <a:srgbClr val="1A1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DDDEE"/>
                          </a:solidFill>
                          <a:latin typeface="Calibri"/>
                        </a:defRPr>
                      </a:pPr>
                      <a:r>
                        <a:t>Search with citations — answers, not links</a:t>
                      </a:r>
                    </a:p>
                  </a:txBody>
                  <a:tcPr marL="73152" marR="73152" marT="36576" marB="36576">
                    <a:solidFill>
                      <a:srgbClr val="1A1E2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73152" cy="4572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Coding &amp; Development Tools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097280"/>
          <a:ext cx="107899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86000"/>
                <a:gridCol w="3200400"/>
                <a:gridCol w="3291840"/>
              </a:tblGrid>
              <a:tr h="838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Tool</a:t>
                      </a:r>
                    </a:p>
                  </a:txBody>
                  <a:tcPr marL="73152" marR="73152" marT="36576" marB="36576">
                    <a:solidFill>
                      <a:srgbClr val="25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It Is</a:t>
                      </a:r>
                    </a:p>
                  </a:txBody>
                  <a:tcPr marL="73152" marR="73152" marT="36576" marB="36576">
                    <a:solidFill>
                      <a:srgbClr val="25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How It Works</a:t>
                      </a:r>
                    </a:p>
                  </a:txBody>
                  <a:tcPr marL="73152" marR="73152" marT="36576" marB="36576">
                    <a:solidFill>
                      <a:srgbClr val="25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Why It Matters</a:t>
                      </a:r>
                    </a:p>
                  </a:txBody>
                  <a:tcPr marL="73152" marR="73152" marT="36576" marB="36576">
                    <a:solidFill>
                      <a:srgbClr val="252A3A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6B35"/>
                          </a:solidFill>
                          <a:latin typeface="Calibri"/>
                        </a:defRPr>
                      </a:pPr>
                      <a:r>
                        <a:t>GitHub Copilot</a:t>
                      </a:r>
                    </a:p>
                  </a:txBody>
                  <a:tcPr marL="73152" marR="73152" marT="36576" marB="36576">
                    <a:solidFill>
                      <a:srgbClr val="1E22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DDDEE"/>
                          </a:solidFill>
                          <a:latin typeface="Calibri"/>
                        </a:defRPr>
                      </a:pPr>
                      <a:r>
                        <a:t>AI pair programmer</a:t>
                      </a:r>
                    </a:p>
                  </a:txBody>
                  <a:tcPr marL="73152" marR="73152" marT="36576" marB="36576">
                    <a:solidFill>
                      <a:srgbClr val="1E22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DDDEE"/>
                          </a:solidFill>
                          <a:latin typeface="Calibri"/>
                        </a:defRPr>
                      </a:pPr>
                      <a:r>
                        <a:t>Suggests code as you type</a:t>
                      </a:r>
                    </a:p>
                  </a:txBody>
                  <a:tcPr marL="73152" marR="73152" marT="36576" marB="36576">
                    <a:solidFill>
                      <a:srgbClr val="1E22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DDDEE"/>
                          </a:solidFill>
                          <a:latin typeface="Calibri"/>
                        </a:defRPr>
                      </a:pPr>
                      <a:r>
                        <a:t>Most widely adopted — millions use it</a:t>
                      </a:r>
                    </a:p>
                  </a:txBody>
                  <a:tcPr marL="73152" marR="73152" marT="36576" marB="36576">
                    <a:solidFill>
                      <a:srgbClr val="1E2232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6B35"/>
                          </a:solidFill>
                          <a:latin typeface="Calibri"/>
                        </a:defRPr>
                      </a:pPr>
                      <a:r>
                        <a:t>Cursor</a:t>
                      </a:r>
                    </a:p>
                  </a:txBody>
                  <a:tcPr marL="73152" marR="73152" marT="36576" marB="36576">
                    <a:solidFill>
                      <a:srgbClr val="1A1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DDDEE"/>
                          </a:solidFill>
                          <a:latin typeface="Calibri"/>
                        </a:defRPr>
                      </a:pPr>
                      <a:r>
                        <a:t>AI-native code editor</a:t>
                      </a:r>
                    </a:p>
                  </a:txBody>
                  <a:tcPr marL="73152" marR="73152" marT="36576" marB="36576">
                    <a:solidFill>
                      <a:srgbClr val="1A1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DDDEE"/>
                          </a:solidFill>
                          <a:latin typeface="Calibri"/>
                        </a:defRPr>
                      </a:pPr>
                      <a:r>
                        <a:t>Describe what you want, it writes it</a:t>
                      </a:r>
                    </a:p>
                  </a:txBody>
                  <a:tcPr marL="73152" marR="73152" marT="36576" marB="36576">
                    <a:solidFill>
                      <a:srgbClr val="1A1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DDDEE"/>
                          </a:solidFill>
                          <a:latin typeface="Calibri"/>
                        </a:defRPr>
                      </a:pPr>
                      <a:r>
                        <a:t>Rethought how code gets written</a:t>
                      </a:r>
                    </a:p>
                  </a:txBody>
                  <a:tcPr marL="73152" marR="73152" marT="36576" marB="36576">
                    <a:solidFill>
                      <a:srgbClr val="1A1E2E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6B35"/>
                          </a:solidFill>
                          <a:latin typeface="Calibri"/>
                        </a:defRPr>
                      </a:pPr>
                      <a:r>
                        <a:t>Claude Code</a:t>
                      </a:r>
                    </a:p>
                  </a:txBody>
                  <a:tcPr marL="73152" marR="73152" marT="36576" marB="36576">
                    <a:solidFill>
                      <a:srgbClr val="1E22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DDDEE"/>
                          </a:solidFill>
                          <a:latin typeface="Calibri"/>
                        </a:defRPr>
                      </a:pPr>
                      <a:r>
                        <a:t>Anthropic's coding agent</a:t>
                      </a:r>
                    </a:p>
                  </a:txBody>
                  <a:tcPr marL="73152" marR="73152" marT="36576" marB="36576">
                    <a:solidFill>
                      <a:srgbClr val="1E22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DDDEE"/>
                          </a:solidFill>
                          <a:latin typeface="Calibri"/>
                        </a:defRPr>
                      </a:pPr>
                      <a:r>
                        <a:t>Reads codebase, plans &amp; executes changes</a:t>
                      </a:r>
                    </a:p>
                  </a:txBody>
                  <a:tcPr marL="73152" marR="73152" marT="36576" marB="36576">
                    <a:solidFill>
                      <a:srgbClr val="1E22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DDDEE"/>
                          </a:solidFill>
                          <a:latin typeface="Calibri"/>
                        </a:defRPr>
                      </a:pPr>
                      <a:r>
                        <a:t>Handles entire features autonomously</a:t>
                      </a:r>
                    </a:p>
                  </a:txBody>
                  <a:tcPr marL="73152" marR="73152" marT="36576" marB="36576">
                    <a:solidFill>
                      <a:srgbClr val="1E2232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6B35"/>
                          </a:solidFill>
                          <a:latin typeface="Calibri"/>
                        </a:defRPr>
                      </a:pPr>
                      <a:r>
                        <a:t>Codex</a:t>
                      </a:r>
                    </a:p>
                  </a:txBody>
                  <a:tcPr marL="73152" marR="73152" marT="36576" marB="36576">
                    <a:solidFill>
                      <a:srgbClr val="1A1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DDDEE"/>
                          </a:solidFill>
                          <a:latin typeface="Calibri"/>
                        </a:defRPr>
                      </a:pPr>
                      <a:r>
                        <a:t>OpenAI's coding agent</a:t>
                      </a:r>
                    </a:p>
                  </a:txBody>
                  <a:tcPr marL="73152" marR="73152" marT="36576" marB="36576">
                    <a:solidFill>
                      <a:srgbClr val="1A1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DDDEE"/>
                          </a:solidFill>
                          <a:latin typeface="Calibri"/>
                        </a:defRPr>
                      </a:pPr>
                      <a:r>
                        <a:t>Takes a task, works step-by-step</a:t>
                      </a:r>
                    </a:p>
                  </a:txBody>
                  <a:tcPr marL="73152" marR="73152" marT="36576" marB="36576">
                    <a:solidFill>
                      <a:srgbClr val="1A1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DDDEE"/>
                          </a:solidFill>
                          <a:latin typeface="Calibri"/>
                        </a:defRPr>
                      </a:pPr>
                      <a:r>
                        <a:t>Cloud-based, spins up own environment</a:t>
                      </a:r>
                    </a:p>
                  </a:txBody>
                  <a:tcPr marL="73152" marR="73152" marT="36576" marB="36576">
                    <a:solidFill>
                      <a:srgbClr val="1A1E2E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6B35"/>
                          </a:solidFill>
                          <a:latin typeface="Calibri"/>
                        </a:defRPr>
                      </a:pPr>
                      <a:r>
                        <a:t>Windsurf</a:t>
                      </a:r>
                    </a:p>
                  </a:txBody>
                  <a:tcPr marL="73152" marR="73152" marT="36576" marB="36576">
                    <a:solidFill>
                      <a:srgbClr val="1E22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DDDEE"/>
                          </a:solidFill>
                          <a:latin typeface="Calibri"/>
                        </a:defRPr>
                      </a:pPr>
                      <a:r>
                        <a:t>AI-powered editor</a:t>
                      </a:r>
                    </a:p>
                  </a:txBody>
                  <a:tcPr marL="73152" marR="73152" marT="36576" marB="36576">
                    <a:solidFill>
                      <a:srgbClr val="1E22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DDDEE"/>
                          </a:solidFill>
                          <a:latin typeface="Calibri"/>
                        </a:defRPr>
                      </a:pPr>
                      <a:r>
                        <a:t>Deep AI integration for writing code</a:t>
                      </a:r>
                    </a:p>
                  </a:txBody>
                  <a:tcPr marL="73152" marR="73152" marT="36576" marB="36576">
                    <a:solidFill>
                      <a:srgbClr val="1E22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DDDEE"/>
                          </a:solidFill>
                          <a:latin typeface="Calibri"/>
                        </a:defRPr>
                      </a:pPr>
                      <a:r>
                        <a:t>Strong free tier, fast iteration</a:t>
                      </a:r>
                    </a:p>
                  </a:txBody>
                  <a:tcPr marL="73152" marR="73152" marT="36576" marB="36576">
                    <a:solidFill>
                      <a:srgbClr val="1E223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73152" cy="548640"/>
          </a:xfrm>
          <a:prstGeom prst="rect">
            <a:avLst/>
          </a:prstGeom>
          <a:solidFill>
            <a:srgbClr val="0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45720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AI Tools for Everyone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1887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BBBCC"/>
                </a:solidFill>
                <a:latin typeface="Calibri"/>
              </a:defRPr>
            </a:pPr>
            <a:r>
              <a:t>No coding required — these tools work for any business professional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291840" cy="2011680"/>
          </a:xfrm>
          <a:prstGeom prst="roundRect">
            <a:avLst/>
          </a:prstGeom>
          <a:solidFill>
            <a:srgbClr val="2A2E3E"/>
          </a:solidFill>
          <a:ln w="12700">
            <a:solidFill>
              <a:srgbClr val="00D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574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D4F5"/>
                </a:solidFill>
                <a:latin typeface="Calibri"/>
              </a:defRPr>
            </a:pPr>
            <a:r>
              <a:t>Claude Co-work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606040"/>
            <a:ext cx="2834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DDDEE"/>
                </a:solidFill>
                <a:latin typeface="Calibri"/>
              </a:defRPr>
            </a:pPr>
            <a:r>
              <a:t>Collaborative AI workspace. Draft docs,</a:t>
            </a:r>
            <a:br/>
            <a:r>
              <a:t>spreadsheets, artifacts together.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828800"/>
            <a:ext cx="3291840" cy="2011680"/>
          </a:xfrm>
          <a:prstGeom prst="roundRect">
            <a:avLst/>
          </a:prstGeom>
          <a:solidFill>
            <a:srgbClr val="2A2E3E"/>
          </a:solidFill>
          <a:ln w="12700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20574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6B35"/>
                </a:solidFill>
                <a:latin typeface="Calibri"/>
              </a:defRPr>
            </a:pPr>
            <a:r>
              <a:t>OpenClaw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2606040"/>
            <a:ext cx="2834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DDDEE"/>
                </a:solidFill>
                <a:latin typeface="Calibri"/>
              </a:defRPr>
            </a:pPr>
            <a:r>
              <a:t>Open-source AI assistant. Connects to</a:t>
            </a:r>
            <a:br/>
            <a:r>
              <a:t>your email, calendar, files. Runs locally.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828800"/>
            <a:ext cx="3291840" cy="2011680"/>
          </a:xfrm>
          <a:prstGeom prst="roundRect">
            <a:avLst/>
          </a:prstGeom>
          <a:solidFill>
            <a:srgbClr val="2A2E3E"/>
          </a:solidFill>
          <a:ln w="12700">
            <a:solidFill>
              <a:srgbClr val="00D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20574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D4F5"/>
                </a:solidFill>
                <a:latin typeface="Calibri"/>
              </a:defRPr>
            </a:pPr>
            <a:r>
              <a:t>Notion 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2606040"/>
            <a:ext cx="2834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DDDEE"/>
                </a:solidFill>
                <a:latin typeface="Calibri"/>
              </a:defRPr>
            </a:pPr>
            <a:r>
              <a:t>AI built into project management.</a:t>
            </a:r>
            <a:br/>
            <a:r>
              <a:t>Automate notes, tasks, and wikis.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206240"/>
            <a:ext cx="3291840" cy="2011680"/>
          </a:xfrm>
          <a:prstGeom prst="roundRect">
            <a:avLst/>
          </a:prstGeom>
          <a:solidFill>
            <a:srgbClr val="2A2E3E"/>
          </a:solidFill>
          <a:ln w="12700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4348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6B35"/>
                </a:solidFill>
                <a:latin typeface="Calibri"/>
              </a:defRPr>
            </a:pPr>
            <a:r>
              <a:t>Gamma.app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983480"/>
            <a:ext cx="2834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DDDEE"/>
                </a:solidFill>
                <a:latin typeface="Calibri"/>
              </a:defRPr>
            </a:pPr>
            <a:r>
              <a:t>AI presentation generation.</a:t>
            </a:r>
            <a:br/>
            <a:r>
              <a:t>Text in → designed slides out.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4206240"/>
            <a:ext cx="3291840" cy="2011680"/>
          </a:xfrm>
          <a:prstGeom prst="roundRect">
            <a:avLst/>
          </a:prstGeom>
          <a:solidFill>
            <a:srgbClr val="2A2E3E"/>
          </a:solidFill>
          <a:ln w="12700">
            <a:solidFill>
              <a:srgbClr val="00D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348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D4F5"/>
                </a:solidFill>
                <a:latin typeface="Calibri"/>
              </a:defRPr>
            </a:pPr>
            <a:r>
              <a:t>Perplexity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983480"/>
            <a:ext cx="2834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DDDEE"/>
                </a:solidFill>
                <a:latin typeface="Calibri"/>
              </a:defRPr>
            </a:pPr>
            <a:r>
              <a:t>Research with citations.</a:t>
            </a:r>
            <a:br/>
            <a:r>
              <a:t>Like Google, but gives you answers.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73152" cy="5486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45720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5 Things You're About to See 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1887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BBBCC"/>
                </a:solidFill>
                <a:latin typeface="Calibri"/>
              </a:defRPr>
            </a:pPr>
            <a:r>
              <a:t>No pre-prepared demos. No tricks. Just AI tools and real business problems.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515600" cy="822960"/>
          </a:xfrm>
          <a:prstGeom prst="roundRect">
            <a:avLst/>
          </a:prstGeom>
          <a:solidFill>
            <a:srgbClr val="2A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  <a:latin typeface="Calibri"/>
              </a:defRPr>
            </a:pPr>
            <a:r>
              <a:t>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8288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6B35"/>
                </a:solidFill>
                <a:latin typeface="Calibri"/>
              </a:defRPr>
            </a:pPr>
            <a:r>
              <a:t>Financial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18288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DDDDEE"/>
                </a:solidFill>
                <a:latin typeface="Calibri"/>
              </a:defRPr>
            </a:pPr>
            <a:r>
              <a:t>Messy Excel → Board-ready report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182880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00D4F5"/>
                </a:solidFill>
                <a:latin typeface="Calibri"/>
              </a:defRPr>
            </a:pPr>
            <a:r>
              <a:t>Claude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697480"/>
            <a:ext cx="10515600" cy="822960"/>
          </a:xfrm>
          <a:prstGeom prst="roundRect">
            <a:avLst/>
          </a:prstGeom>
          <a:solidFill>
            <a:srgbClr val="2A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78892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  <a:latin typeface="Calibri"/>
              </a:defRPr>
            </a:pPr>
            <a:r>
              <a:t>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78892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6B35"/>
                </a:solidFill>
                <a:latin typeface="Calibri"/>
              </a:defRPr>
            </a:pPr>
            <a:r>
              <a:t>Contract Drafting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278892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DDDDEE"/>
                </a:solidFill>
                <a:latin typeface="Calibri"/>
              </a:defRPr>
            </a:pPr>
            <a:r>
              <a:t>One brief → Full legal agreement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0" y="278892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00D4F5"/>
                </a:solidFill>
                <a:latin typeface="Calibri"/>
              </a:defRPr>
            </a:pPr>
            <a:r>
              <a:t>Claude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657600"/>
            <a:ext cx="10515600" cy="822960"/>
          </a:xfrm>
          <a:prstGeom prst="roundRect">
            <a:avLst/>
          </a:prstGeom>
          <a:solidFill>
            <a:srgbClr val="2A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4904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  <a:latin typeface="Calibri"/>
              </a:defRPr>
            </a:pPr>
            <a:r>
              <a:t>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374904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6B35"/>
                </a:solidFill>
                <a:latin typeface="Calibri"/>
              </a:defRPr>
            </a:pPr>
            <a:r>
              <a:t>Brand Identity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374904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DDDDEE"/>
                </a:solidFill>
                <a:latin typeface="Calibri"/>
              </a:defRPr>
            </a:pPr>
            <a:r>
              <a:t>Text description → Logo &amp; brand guide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374904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00D4F5"/>
                </a:solidFill>
                <a:latin typeface="Calibri"/>
              </a:defRPr>
            </a:pPr>
            <a:r>
              <a:t>Claude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617720"/>
            <a:ext cx="10515600" cy="822960"/>
          </a:xfrm>
          <a:prstGeom prst="roundRect">
            <a:avLst/>
          </a:prstGeom>
          <a:solidFill>
            <a:srgbClr val="2A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70916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  <a:latin typeface="Calibri"/>
              </a:defRPr>
            </a:pPr>
            <a:r>
              <a:t>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7091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6B35"/>
                </a:solidFill>
                <a:latin typeface="Calibri"/>
              </a:defRPr>
            </a:pPr>
            <a:r>
              <a:t>Market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470916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DDDDEE"/>
                </a:solidFill>
                <a:latin typeface="Calibri"/>
              </a:defRPr>
            </a:pPr>
            <a:r>
              <a:t>A question → Sourced research report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0" y="47091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00D4F5"/>
                </a:solidFill>
                <a:latin typeface="Calibri"/>
              </a:defRPr>
            </a:pPr>
            <a:r>
              <a:t>Perplexity + Claude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577840"/>
            <a:ext cx="10515600" cy="822960"/>
          </a:xfrm>
          <a:prstGeom prst="roundRect">
            <a:avLst/>
          </a:prstGeom>
          <a:solidFill>
            <a:srgbClr val="2A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66928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  <a:latin typeface="Calibri"/>
              </a:defRPr>
            </a:pPr>
            <a:r>
              <a:t>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56692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6B35"/>
                </a:solidFill>
                <a:latin typeface="Calibri"/>
              </a:defRPr>
            </a:pPr>
            <a:r>
              <a:t>Pitch Deck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31920" y="566928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DDDDEE"/>
                </a:solidFill>
                <a:latin typeface="Calibri"/>
              </a:defRPr>
            </a:pPr>
            <a:r>
              <a:t>Napkin idea → Designed slide deck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56692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00D4F5"/>
                </a:solidFill>
                <a:latin typeface="Calibri"/>
              </a:defRPr>
            </a:pPr>
            <a:r>
              <a:t>Claude + Gamma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73152" cy="5486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45720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📊  Financial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371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BBBBCC"/>
                </a:solidFill>
                <a:latin typeface="Calibri"/>
              </a:defRPr>
            </a:pPr>
            <a:r>
              <a:t>Turn a messy Excel spreadsheet into a clean executive summary with charts and risk analysis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2011680"/>
            <a:ext cx="4114800" cy="502920"/>
          </a:xfrm>
          <a:prstGeom prst="roundRect">
            <a:avLst/>
          </a:prstGeom>
          <a:solidFill>
            <a:srgbClr val="202535"/>
          </a:solidFill>
          <a:ln w="12700">
            <a:solidFill>
              <a:srgbClr val="00D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05740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4F5"/>
                </a:solidFill>
                <a:latin typeface="Calibri"/>
              </a:defRPr>
            </a:pPr>
            <a:r>
              <a:t>Tool:  Claude (claude.ai)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35"/>
                </a:solidFill>
                <a:latin typeface="Calibri"/>
              </a:defRPr>
            </a:pPr>
            <a:r>
              <a:t>What you'll see: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38328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DDDDEE"/>
                </a:solidFill>
                <a:latin typeface="Calibri"/>
              </a:defRPr>
            </a:pPr>
            <a:r>
              <a:t>▸  Messy spreadsheet → cleaned &amp; standardised data</a:t>
            </a:r>
          </a:p>
          <a:p>
            <a:pPr>
              <a:spcBef>
                <a:spcPts val="1200"/>
              </a:spcBef>
              <a:defRPr sz="2000">
                <a:solidFill>
                  <a:srgbClr val="DDDDEE"/>
                </a:solidFill>
                <a:latin typeface="Calibri"/>
              </a:defRPr>
            </a:pPr>
            <a:r>
              <a:t>▸  Key ratios: gross margin, EBITDA, burn rate, runway</a:t>
            </a:r>
          </a:p>
          <a:p>
            <a:pPr>
              <a:spcBef>
                <a:spcPts val="1200"/>
              </a:spcBef>
              <a:defRPr sz="2000">
                <a:solidFill>
                  <a:srgbClr val="DDDDEE"/>
                </a:solidFill>
                <a:latin typeface="Calibri"/>
              </a:defRPr>
            </a:pPr>
            <a:r>
              <a:t>▸  Auto-generated charts and risk matrix</a:t>
            </a:r>
          </a:p>
          <a:p>
            <a:pPr>
              <a:spcBef>
                <a:spcPts val="1200"/>
              </a:spcBef>
              <a:defRPr sz="2000">
                <a:solidFill>
                  <a:srgbClr val="DDDDEE"/>
                </a:solidFill>
                <a:latin typeface="Calibri"/>
              </a:defRPr>
            </a:pPr>
            <a:r>
              <a:t>▸  Board-ready summary in under 5 minutes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5486400"/>
            <a:ext cx="10058400" cy="640080"/>
          </a:xfrm>
          <a:prstGeom prst="roundRect">
            <a:avLst/>
          </a:prstGeom>
          <a:solidFill>
            <a:srgbClr val="251A10"/>
          </a:solidFill>
          <a:ln w="12700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5532120"/>
            <a:ext cx="9509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B35"/>
                </a:solidFill>
                <a:latin typeface="Calibri"/>
              </a:defRPr>
            </a:pPr>
            <a:r>
              <a:t>💡  This normally takes a financial analyst 2–3 hours.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73152" cy="5486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45720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📝  Contract Drafting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371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BBBBCC"/>
                </a:solidFill>
                <a:latin typeface="Calibri"/>
              </a:defRPr>
            </a:pPr>
            <a:r>
              <a:t>Generate a full professional services agreement from a one-paragraph brief, then refine clauses in real-time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2011680"/>
            <a:ext cx="4114800" cy="502920"/>
          </a:xfrm>
          <a:prstGeom prst="roundRect">
            <a:avLst/>
          </a:prstGeom>
          <a:solidFill>
            <a:srgbClr val="202535"/>
          </a:solidFill>
          <a:ln w="12700">
            <a:solidFill>
              <a:srgbClr val="00D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05740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4F5"/>
                </a:solidFill>
                <a:latin typeface="Calibri"/>
              </a:defRPr>
            </a:pPr>
            <a:r>
              <a:t>Tool:  Claude (claude.ai)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35"/>
                </a:solidFill>
                <a:latin typeface="Calibri"/>
              </a:defRPr>
            </a:pPr>
            <a:r>
              <a:t>What you'll see: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38328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DDDDEE"/>
                </a:solidFill>
                <a:latin typeface="Calibri"/>
              </a:defRPr>
            </a:pPr>
            <a:r>
              <a:t>▸  One-paragraph brief → multi-page legal contract</a:t>
            </a:r>
          </a:p>
          <a:p>
            <a:pPr>
              <a:spcBef>
                <a:spcPts val="1200"/>
              </a:spcBef>
              <a:defRPr sz="2000">
                <a:solidFill>
                  <a:srgbClr val="DDDDEE"/>
                </a:solidFill>
                <a:latin typeface="Calibri"/>
              </a:defRPr>
            </a:pPr>
            <a:r>
              <a:t>▸  12 properly structured sections with cross-references</a:t>
            </a:r>
          </a:p>
          <a:p>
            <a:pPr>
              <a:spcBef>
                <a:spcPts val="1200"/>
              </a:spcBef>
              <a:defRPr sz="2000">
                <a:solidFill>
                  <a:srgbClr val="DDDDEE"/>
                </a:solidFill>
                <a:latin typeface="Calibri"/>
              </a:defRPr>
            </a:pPr>
            <a:r>
              <a:t>▸  Live clause refinement (IP, termination, liability)</a:t>
            </a:r>
          </a:p>
          <a:p>
            <a:pPr>
              <a:spcBef>
                <a:spcPts val="1200"/>
              </a:spcBef>
              <a:defRPr sz="2000">
                <a:solidFill>
                  <a:srgbClr val="DDDDEE"/>
                </a:solidFill>
                <a:latin typeface="Calibri"/>
              </a:defRPr>
            </a:pPr>
            <a:r>
              <a:t>▸  Plain-English simplification on demand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5486400"/>
            <a:ext cx="10058400" cy="640080"/>
          </a:xfrm>
          <a:prstGeom prst="roundRect">
            <a:avLst/>
          </a:prstGeom>
          <a:solidFill>
            <a:srgbClr val="251A10"/>
          </a:solidFill>
          <a:ln w="12700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5532120"/>
            <a:ext cx="9509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B35"/>
                </a:solidFill>
                <a:latin typeface="Calibri"/>
              </a:defRPr>
            </a:pPr>
            <a:r>
              <a:t>💡  A solicitor charges £500–£2,000 for a first draft. AI gets you 80% there in 2 minutes.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73152" cy="5486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45720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🎨  Brand Identity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371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BBBBCC"/>
                </a:solidFill>
                <a:latin typeface="Calibri"/>
              </a:defRPr>
            </a:pPr>
            <a:r>
              <a:t>Create a logo, colour palette, brand guidelines and business card mockup from a text description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2011680"/>
            <a:ext cx="4114800" cy="502920"/>
          </a:xfrm>
          <a:prstGeom prst="roundRect">
            <a:avLst/>
          </a:prstGeom>
          <a:solidFill>
            <a:srgbClr val="202535"/>
          </a:solidFill>
          <a:ln w="12700">
            <a:solidFill>
              <a:srgbClr val="00D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05740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4F5"/>
                </a:solidFill>
                <a:latin typeface="Calibri"/>
              </a:defRPr>
            </a:pPr>
            <a:r>
              <a:t>Tool:  Claude (claude.ai) + DALL·E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35"/>
                </a:solidFill>
                <a:latin typeface="Calibri"/>
              </a:defRPr>
            </a:pPr>
            <a:r>
              <a:t>What you'll see: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38328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DDDDEE"/>
                </a:solidFill>
                <a:latin typeface="Calibri"/>
              </a:defRPr>
            </a:pPr>
            <a:r>
              <a:t>▸  Logo generation from a text brief</a:t>
            </a:r>
          </a:p>
          <a:p>
            <a:pPr>
              <a:spcBef>
                <a:spcPts val="1200"/>
              </a:spcBef>
              <a:defRPr sz="2000">
                <a:solidFill>
                  <a:srgbClr val="DDDDEE"/>
                </a:solidFill>
                <a:latin typeface="Calibri"/>
              </a:defRPr>
            </a:pPr>
            <a:r>
              <a:t>▸  Iterative refinement (more minimal, different style)</a:t>
            </a:r>
          </a:p>
          <a:p>
            <a:pPr>
              <a:spcBef>
                <a:spcPts val="1200"/>
              </a:spcBef>
              <a:defRPr sz="2000">
                <a:solidFill>
                  <a:srgbClr val="DDDDEE"/>
                </a:solidFill>
                <a:latin typeface="Calibri"/>
              </a:defRPr>
            </a:pPr>
            <a:r>
              <a:t>▸  Full brand colour palette with hex codes</a:t>
            </a:r>
          </a:p>
          <a:p>
            <a:pPr>
              <a:spcBef>
                <a:spcPts val="1200"/>
              </a:spcBef>
              <a:defRPr sz="2000">
                <a:solidFill>
                  <a:srgbClr val="DDDDEE"/>
                </a:solidFill>
                <a:latin typeface="Calibri"/>
              </a:defRPr>
            </a:pPr>
            <a:r>
              <a:t>▸  Typography recommendations &amp; business card mockup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5486400"/>
            <a:ext cx="10058400" cy="640080"/>
          </a:xfrm>
          <a:prstGeom prst="roundRect">
            <a:avLst/>
          </a:prstGeom>
          <a:solidFill>
            <a:srgbClr val="251A10"/>
          </a:solidFill>
          <a:ln w="12700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5532120"/>
            <a:ext cx="9509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B35"/>
                </a:solidFill>
                <a:latin typeface="Calibri"/>
              </a:defRPr>
            </a:pPr>
            <a:r>
              <a:t>💡  A branding agency charges £5,000–£15,000. Get a solid starting point in minutes.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73152" cy="5486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45720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🔍  Market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371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BBBBCC"/>
                </a:solidFill>
                <a:latin typeface="Calibri"/>
              </a:defRPr>
            </a:pPr>
            <a:r>
              <a:t>Produce a structured competitive analysis with real, cited sources you can verify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2011680"/>
            <a:ext cx="4114800" cy="502920"/>
          </a:xfrm>
          <a:prstGeom prst="roundRect">
            <a:avLst/>
          </a:prstGeom>
          <a:solidFill>
            <a:srgbClr val="202535"/>
          </a:solidFill>
          <a:ln w="12700">
            <a:solidFill>
              <a:srgbClr val="00D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05740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4F5"/>
                </a:solidFill>
                <a:latin typeface="Calibri"/>
              </a:defRPr>
            </a:pPr>
            <a:r>
              <a:t>Tool:  Perplexity Pro + Claude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35"/>
                </a:solidFill>
                <a:latin typeface="Calibri"/>
              </a:defRPr>
            </a:pPr>
            <a:r>
              <a:t>What you'll see: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38328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DDDDEE"/>
                </a:solidFill>
                <a:latin typeface="Calibri"/>
              </a:defRPr>
            </a:pPr>
            <a:r>
              <a:t>▸  Market size, key players, trends, opportunities</a:t>
            </a:r>
          </a:p>
          <a:p>
            <a:pPr>
              <a:spcBef>
                <a:spcPts val="1200"/>
              </a:spcBef>
              <a:defRPr sz="2000">
                <a:solidFill>
                  <a:srgbClr val="DDDDEE"/>
                </a:solidFill>
                <a:latin typeface="Calibri"/>
              </a:defRPr>
            </a:pPr>
            <a:r>
              <a:t>▸  Every claim backed by clickable sources</a:t>
            </a:r>
          </a:p>
          <a:p>
            <a:pPr>
              <a:spcBef>
                <a:spcPts val="1200"/>
              </a:spcBef>
              <a:defRPr sz="2000">
                <a:solidFill>
                  <a:srgbClr val="DDDDEE"/>
                </a:solidFill>
                <a:latin typeface="Calibri"/>
              </a:defRPr>
            </a:pPr>
            <a:r>
              <a:t>▸  SWOT analysis for a specific new entrant</a:t>
            </a:r>
          </a:p>
          <a:p>
            <a:pPr>
              <a:spcBef>
                <a:spcPts val="1200"/>
              </a:spcBef>
              <a:defRPr sz="2000">
                <a:solidFill>
                  <a:srgbClr val="DDDDEE"/>
                </a:solidFill>
                <a:latin typeface="Calibri"/>
              </a:defRPr>
            </a:pPr>
            <a:r>
              <a:t>▸  TAM/SAM/SOM market sizing with reasoning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5486400"/>
            <a:ext cx="10058400" cy="640080"/>
          </a:xfrm>
          <a:prstGeom prst="roundRect">
            <a:avLst/>
          </a:prstGeom>
          <a:solidFill>
            <a:srgbClr val="251A10"/>
          </a:solidFill>
          <a:ln w="12700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5532120"/>
            <a:ext cx="9509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B35"/>
                </a:solidFill>
                <a:latin typeface="Calibri"/>
              </a:defRPr>
            </a:pPr>
            <a:r>
              <a:t>💡  A week-long consulting engagement compressed into minutes.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73152" cy="5486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45720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🚀  Investor Pitch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371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BBBBCC"/>
                </a:solidFill>
                <a:latin typeface="Calibri"/>
              </a:defRPr>
            </a:pPr>
            <a:r>
              <a:t>Turn a one-line business idea into a complete 12-slide investor pitch deck with designed slides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2011680"/>
            <a:ext cx="4114800" cy="502920"/>
          </a:xfrm>
          <a:prstGeom prst="roundRect">
            <a:avLst/>
          </a:prstGeom>
          <a:solidFill>
            <a:srgbClr val="202535"/>
          </a:solidFill>
          <a:ln w="12700">
            <a:solidFill>
              <a:srgbClr val="00D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05740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4F5"/>
                </a:solidFill>
                <a:latin typeface="Calibri"/>
              </a:defRPr>
            </a:pPr>
            <a:r>
              <a:t>Tool:  Claude (claude.ai) + Gamma.app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35"/>
                </a:solidFill>
                <a:latin typeface="Calibri"/>
              </a:defRPr>
            </a:pPr>
            <a:r>
              <a:t>What you'll see: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38328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DDDDEE"/>
                </a:solidFill>
                <a:latin typeface="Calibri"/>
              </a:defRPr>
            </a:pPr>
            <a:r>
              <a:t>▸  Full deck: problem, solution, market, team, financials</a:t>
            </a:r>
          </a:p>
          <a:p>
            <a:pPr>
              <a:spcBef>
                <a:spcPts val="1200"/>
              </a:spcBef>
              <a:defRPr sz="2000">
                <a:solidFill>
                  <a:srgbClr val="DDDDEE"/>
                </a:solidFill>
                <a:latin typeface="Calibri"/>
              </a:defRPr>
            </a:pPr>
            <a:r>
              <a:t>▸  Emotional storytelling on the problem slide</a:t>
            </a:r>
          </a:p>
          <a:p>
            <a:pPr>
              <a:spcBef>
                <a:spcPts val="1200"/>
              </a:spcBef>
              <a:defRPr sz="2000">
                <a:solidFill>
                  <a:srgbClr val="DDDDEE"/>
                </a:solidFill>
                <a:latin typeface="Calibri"/>
              </a:defRPr>
            </a:pPr>
            <a:r>
              <a:t>▸  3-year financial projections with assumptions</a:t>
            </a:r>
          </a:p>
          <a:p>
            <a:pPr>
              <a:spcBef>
                <a:spcPts val="1200"/>
              </a:spcBef>
              <a:defRPr sz="2000">
                <a:solidFill>
                  <a:srgbClr val="DDDDEE"/>
                </a:solidFill>
                <a:latin typeface="Calibri"/>
              </a:defRPr>
            </a:pPr>
            <a:r>
              <a:t>▸  Designed slides via Gamma in one click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5486400"/>
            <a:ext cx="10058400" cy="640080"/>
          </a:xfrm>
          <a:prstGeom prst="roundRect">
            <a:avLst/>
          </a:prstGeom>
          <a:solidFill>
            <a:srgbClr val="251A10"/>
          </a:solidFill>
          <a:ln w="12700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5532120"/>
            <a:ext cx="9509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B35"/>
                </a:solidFill>
                <a:latin typeface="Calibri"/>
              </a:defRPr>
            </a:pPr>
            <a:r>
              <a:t>💡  Founders spend weeks on pitch decks. Get a solid first draft in minutes.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01168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Calibri"/>
              </a:defRPr>
            </a:pPr>
            <a:r>
              <a:t>Let's Try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0" y="3200400"/>
            <a:ext cx="2103120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34747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D4F5"/>
                </a:solidFill>
                <a:latin typeface="Calibri"/>
              </a:defRPr>
            </a:pPr>
            <a:r>
              <a:t>5 live demos. No safety net.</a:t>
            </a:r>
          </a:p>
          <a:p>
            <a:pPr algn="ctr">
              <a:spcBef>
                <a:spcPts val="1600"/>
              </a:spcBef>
              <a:defRPr sz="1800" b="0">
                <a:solidFill>
                  <a:srgbClr val="BBBBCC"/>
                </a:solidFill>
                <a:latin typeface="Calibri"/>
              </a:defRPr>
            </a:pPr>
            <a:r>
              <a:t>Everything you're about to see uses tools available to you today — most of them free.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