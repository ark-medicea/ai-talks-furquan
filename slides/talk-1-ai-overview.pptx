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Aft>
                <a:spcPts val="4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400"/>
              </a:spcAft>
              <a:defRPr sz="3600" b="0">
                <a:solidFill>
                  <a:srgbClr val="00D4F5"/>
                </a:solidFill>
                <a:latin typeface="Calibri"/>
              </a:defRPr>
            </a:pPr>
            <a:r>
              <a:t>What You Need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FF6B35"/>
                </a:solidFill>
                <a:latin typeface="Calibri"/>
              </a:defRPr>
            </a:pPr>
            <a:r>
              <a:t>Enriched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Presented by 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"You cannot change the wind, but working together, we can adjust the sails"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AI Landscape: Who's Who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Six major players, each with different strengths — like smartphone makers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474720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They Do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 You Use It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Known For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Started the current AI wave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(web/mobile/desktop)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all-rounder, household name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DeepMind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Google's AI division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app, Gmail, Docs, Sheets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 Google integration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safety-focused company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claude.ai (web/mobile)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Long docs, analysis, careful reasoning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Facebook/Instagram parent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via many apps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&amp; open-source models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xAI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Elon Musk's AI company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 (Twitter), standalone app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Real-time info, social media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Perplexity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AI-powered search engine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perplexity.ai (web/mobile)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Answers with sources, not links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Lineup by Category (March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Each company makes models for different jobs — like sports car vs family car vs city car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2560320"/>
                <a:gridCol w="246888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🧠 Thinking</a:t>
                      </a:r>
                      <a:br/>
                      <a:r>
                        <a:t>(Deep Reasoning)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⚡ Standard</a:t>
                      </a:r>
                      <a:br/>
                      <a:r>
                        <a:t>(Everyday)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🏎️ Fast</a:t>
                      </a:r>
                      <a:br/>
                      <a:r>
                        <a:t>(Lightweight)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🎨 Image</a:t>
                      </a:r>
                      <a:br/>
                      <a:r>
                        <a:t>Generation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GPT-5.4 Thinking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GPT-5.4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GPT-4.1 mini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 Image (built-in)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3</a:t>
                      </a:r>
                      <a:br/>
                      <a:r>
                        <a:t>Deep Think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3.1 Pro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3.1</a:t>
                      </a:r>
                      <a:br/>
                      <a:r>
                        <a:t>Flash Lite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Imagen 4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Opus 4.6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Sonnet 4.6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Haiku 4.5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 (vision only)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 4 Maverick</a:t>
                      </a:r>
                      <a:br/>
                      <a:r>
                        <a:t>(400B MoE)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 4 Scout</a:t>
                      </a:r>
                      <a:br/>
                      <a:r>
                        <a:t>(109B MoE)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 Imagine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xAI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Grok 4.1 Thinking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Grok 4.20 Beta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Grok 4.1 Fast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Aurora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Perplexity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 (aggregator)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Sonar /</a:t>
                      </a:r>
                      <a:br/>
                      <a:r>
                        <a:t>user picks model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FF6B35"/>
                </a:solidFill>
                <a:latin typeface="Calibri"/>
              </a:defRPr>
            </a:pPr>
            <a:r>
              <a:t>💡 If you only try one — start with Claude. It's what I use for everything you're about to see.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Does It Cost? (All Prices in GBP)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371600"/>
                <a:gridCol w="1645920"/>
                <a:gridCol w="585216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Tier?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Paid Tier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Cost/Month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Paid Benefits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  <a:br/>
                      <a:r>
                        <a:t>(Anthropic)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  <a:br/>
                      <a:r>
                        <a:t>Max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£16/mo</a:t>
                      </a:r>
                      <a:br/>
                      <a:r>
                        <a:t>£80+/mo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5× usage, Opus 4.6, web search,</a:t>
                      </a:r>
                      <a:br/>
                      <a:r>
                        <a:t>Co-work, file uploads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  <a:br/>
                      <a:r>
                        <a:t>(OpenAI)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Plus</a:t>
                      </a:r>
                      <a:br/>
                      <a:r>
                        <a:t>Pro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£16/mo</a:t>
                      </a:r>
                      <a:br/>
                      <a:r>
                        <a:t>£160/mo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GPT-5.4, Thinking,</a:t>
                      </a:r>
                      <a:br/>
                      <a:r>
                        <a:t>Deep Research, unlimited usage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  <a:br/>
                      <a:r>
                        <a:t>(Google)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Advanced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£16/mo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3.1 Pro, Deep Think,</a:t>
                      </a:r>
                      <a:br/>
                      <a:r>
                        <a:t>1M token context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Grok</a:t>
                      </a:r>
                      <a:br/>
                      <a:r>
                        <a:t>(xAI)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(via X)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 Premium+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£18/mo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Grok 4.x, Aurora images,</a:t>
                      </a:r>
                      <a:br/>
                      <a:r>
                        <a:t>no ads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Perplexity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£16/mo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Choose backend model,</a:t>
                      </a:r>
                      <a:br/>
                      <a:r>
                        <a:t>Deep Research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15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💡 Recommendation: Claude Pro at £16/month is the best value for business users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Best for: long documents, contracts, analysis, writing • Web search included • Co-work for collaboration</a:t>
            </a:r>
          </a:p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File uploads (Excel, PDF) • Generates .xlsx and .pptx files • No image gen — use ChatGPT free for that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Can AI Actually Do? — The Honest Assessment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48640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Means For You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✍️ Text — writing, editing,</a:t>
                      </a:r>
                      <a:br/>
                      <a:r>
                        <a:t>summarising, translating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Emails in seconds. Reports in minutes.</a:t>
                      </a:r>
                      <a:br/>
                      <a:r>
                        <a:t>Translate docs while you make tea.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⭐⭐⭐⭐⭐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💻 Code — writing, debugging,</a:t>
                      </a:r>
                      <a:br/>
                      <a:r>
                        <a:t>explaining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simple tools, automate spreadsheets,</a:t>
                      </a:r>
                      <a:br/>
                      <a:r>
                        <a:t>create websites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⭐⭐⭐⭐⭐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📊 Data analysis — CSV/Excel,</a:t>
                      </a:r>
                      <a:br/>
                      <a:r>
                        <a:t>trends, ratios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Upload a spreadsheet, ask 'what's the trend?'</a:t>
                      </a:r>
                      <a:br/>
                      <a:r>
                        <a:t>and get a real answer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⭐⭐⭐⭐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🔍 Research — web search,</a:t>
                      </a:r>
                      <a:br/>
                      <a:r>
                        <a:t>synthesising, citing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 answers with links</a:t>
                      </a:r>
                      <a:br/>
                      <a:r>
                        <a:t>you can verify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⭐⭐⭐⭐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🧠 Reasoning — logic, planning,</a:t>
                      </a:r>
                      <a:br/>
                      <a:r>
                        <a:t>complex problems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thinks through options step by step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⭐⭐⭐⭐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📁 File generation —</a:t>
                      </a:r>
                      <a:br/>
                      <a:r>
                        <a:t>Excel, PPTX, PDF, CSV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generates downloadable files</a:t>
                      </a:r>
                      <a:br/>
                      <a:r>
                        <a:t>via artifacts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⭐⭐⭐⭐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Limitations &amp; the MCP Game-Changer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29260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🚫  What AI Cannot Do (Today)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Guarantee accuracy — hallucinations are real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Replace domain expertise — it's an assistant, not an expert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Remember between conversations (unless memory features used)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❌ Take actions in other software… by default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FFCC00"/>
                </a:solidFill>
                <a:latin typeface="Calibri"/>
              </a:defRPr>
            </a:pPr>
            <a:r>
              <a:t>⚠️ Mediocre at: complex formatting, pixel-perfect design,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advanced maths. Think 80/20 — AI does 80%, you polish 20%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5760720" cy="29260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🔌  MCP — Like USB Ports for AI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MCP = Model Context Protocol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Lets you plug external services into AI: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→ Google Drive → AI reads your docs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→ Calendar → AI checks availability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→ CRM → AI looks up client info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→ Email → AI reads &amp; drafts replies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Supported: Claude Desktop, OpenClaw, Cursor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97680"/>
            <a:ext cx="11430000" cy="2011680"/>
          </a:xfrm>
          <a:prstGeom prst="rect">
            <a:avLst/>
          </a:prstGeom>
          <a:solidFill>
            <a:srgbClr val="2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📱  Skills &amp; Plugins — Apps for Your AI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Claude → MCP servers, Projects (persistent context), Artifacts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ChatGPT → GPTs (custom bots), Actions — pre-built mini-experts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OpenClaw → Skills (installable capabilities) + MCP integration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Notion AI → Built into your workspace, no extra setup</a:t>
            </a:r>
          </a:p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💡 The AI you use today is the least capable version it will ever 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Putting It All Together: Workflow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Chain actions across apps — and now AI can think at each step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554480"/>
                <a:gridCol w="1463040"/>
                <a:gridCol w="164592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Integrations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AI?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Difficulty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00A0C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Make.com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/ £7+/mo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1,500+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Built-in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🟢 Easy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Beginners, visual thinkers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Zapier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/ £16+/mo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6,000+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Available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🟢 Easy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Widest app support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  <a:br/>
                      <a:r>
                        <a:t>Automate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Often included</a:t>
                      </a:r>
                      <a:br/>
                      <a:r>
                        <a:t>in M365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Microsoft-</a:t>
                      </a:r>
                      <a:br/>
                      <a:r>
                        <a:t>deep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AI Builder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🟡 Medium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Microsoft shops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n8n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(self-host)</a:t>
                      </a:r>
                      <a:br/>
                      <a:r>
                        <a:t>/ £16+/mo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400+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🔴 Technical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control, privacy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  <a:br/>
                      <a:r>
                        <a:t>(open-source)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Via MCP</a:t>
                      </a:r>
                      <a:br/>
                      <a:r>
                        <a:t>/ skills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AI-native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🔴 Technical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AI-first automation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754880"/>
            <a:ext cx="11430000" cy="182880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FF6B35"/>
                </a:solidFill>
                <a:latin typeface="Calibri"/>
              </a:defRPr>
            </a:pPr>
            <a:r>
              <a:t>⚡ Real-World Example: Monday Morning Autopilot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Every Monday 7am → Pull calendar → Identify meetings needing prep → Pull project data →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Draft prep docs → Save to Google Drive → Slack you if anything is urgent</a:t>
            </a: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6 apps, AI reasoning, conditional logic — running while you sleep. All possible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Beyond Chat: Tools for Non-Technical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320040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Co-work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Notion AI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Collaborative workspace —</a:t>
                      </a:r>
                      <a:br/>
                      <a:r>
                        <a:t>docs, spreadsheets, code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Personal AI assistant</a:t>
                      </a:r>
                      <a:br/>
                      <a:r>
                        <a:t>framework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built into Notion</a:t>
                      </a:r>
                      <a:br/>
                      <a:r>
                        <a:t>notes &amp; docs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Model(s)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Sonnet 4.6 / Opus 4.6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Any model</a:t>
                      </a:r>
                      <a:br/>
                      <a:r>
                        <a:t>(Claude, GPT, Gemini)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Multiple</a:t>
                      </a:r>
                      <a:br/>
                      <a:r>
                        <a:t>(Claude, GPT, Gemini)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Draft docs, generate Excel</a:t>
                      </a:r>
                      <a:br/>
                      <a:r>
                        <a:t>&amp; PPTX, read local files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Operates your tools:</a:t>
                      </a:r>
                      <a:br/>
                      <a:r>
                        <a:t>email, calendar, files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Summarise pages,</a:t>
                      </a:r>
                      <a:br/>
                      <a:r>
                        <a:t>generate content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 with</a:t>
                      </a:r>
                      <a:br/>
                      <a:r>
                        <a:t>Claude Pro (£16/mo)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  <a:br/>
                      <a:r>
                        <a:t>(open-source)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~£8/mo per member</a:t>
                      </a:r>
                      <a:br/>
                      <a:r>
                        <a:t>(add-on)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Business professionals</a:t>
                      </a:r>
                      <a:br/>
                      <a:r>
                        <a:t>who want an AI co-worker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Power users wanting</a:t>
                      </a:r>
                      <a:br/>
                      <a:r>
                        <a:t>full workflow integration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Teams already</a:t>
                      </a:r>
                      <a:br/>
                      <a:r>
                        <a:t>using Notion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Tied to Anthropic</a:t>
                      </a:r>
                      <a:br/>
                      <a:r>
                        <a:t>ecosystem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Requires some</a:t>
                      </a:r>
                      <a:br/>
                      <a:r>
                        <a:t>technical setup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Only works</a:t>
                      </a:r>
                      <a:br/>
                      <a:r>
                        <a:t>within Notion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4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🎯 The Skill That Matters Most: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>
                <a:solidFill>
                  <a:srgbClr val="00D4F5"/>
                </a:solidFill>
                <a:latin typeface="Calibri"/>
              </a:defRPr>
            </a:pPr>
            <a:r>
              <a:t>The 6 Parts of a Great Prompt — R·C·T·F·C·E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92608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Tells AI WHO it is —</a:t>
                      </a:r>
                      <a:br/>
                      <a:r>
                        <a:t>sets expertise &amp; perspective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"You are a senior financial analyst</a:t>
                      </a:r>
                      <a:br/>
                      <a:r>
                        <a:t>with 15 years UK manufacturing experience"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Gives background —</a:t>
                      </a:r>
                      <a:br/>
                      <a:r>
                        <a:t>AI can't read your mind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"I run a £5M manufacturing business.</a:t>
                      </a:r>
                      <a:br/>
                      <a:r>
                        <a:t>Preparing for a board meeting next week."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 specific about WHAT</a:t>
                      </a:r>
                      <a:br/>
                      <a:r>
                        <a:t>you want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"Analyse this P&amp;L and identify</a:t>
                      </a:r>
                      <a:br/>
                      <a:r>
                        <a:t>the 3 biggest risks"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Tells HOW to present</a:t>
                      </a:r>
                      <a:br/>
                      <a:r>
                        <a:t>the output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"One-page exec summary with bullets,</a:t>
                      </a:r>
                      <a:br/>
                      <a:r>
                        <a:t>not paragraphs" or "Use a table"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Sets boundaries — stops</a:t>
                      </a:r>
                      <a:br/>
                      <a:r>
                        <a:t>AI going off-piste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"Under 500 words" / "Formal English" /</a:t>
                      </a:r>
                      <a:br/>
                      <a:r>
                        <a:t>"Don't make assumptions beyond data"</a:t>
                      </a:r>
                    </a:p>
                  </a:txBody>
                  <a:tcPr anchor="ctr">
                    <a:solidFill>
                      <a:srgbClr val="2226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Shows what good</a:t>
                      </a:r>
                      <a:br/>
                      <a:r>
                        <a:t>looks like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"Here's an example of the tone</a:t>
                      </a:r>
                      <a:br/>
                      <a:r>
                        <a:t>I want: [paste example]"</a:t>
                      </a:r>
                    </a:p>
                  </a:txBody>
                  <a:tcPr anchor="ctr">
                    <a:solidFill>
                      <a:srgbClr val="2A2E4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0" y="5760720"/>
            <a:ext cx="7589520" cy="731520"/>
          </a:xfrm>
          <a:prstGeom prst="rect">
            <a:avLst/>
          </a:prstGeom>
          <a:solidFill>
            <a:srgbClr val="15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580644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💡 Memory Aid:  R-C-T-F-C-E  =  "Really Clear Tasks Fix Common Errors"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🎯 Before &amp; After — The Dramatic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2286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FF4444"/>
                </a:solidFill>
                <a:latin typeface="Calibri"/>
              </a:defRPr>
            </a:pPr>
            <a:r>
              <a:t>❌  Bad Prompt: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"Write me a contract"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→ Generic, American legal language, missing</a:t>
            </a:r>
            <a:br/>
            <a:r>
              <a:t>   key terms, no jurisdiction. Useless without</a:t>
            </a:r>
            <a:br/>
            <a:r>
              <a:t>   major rewriting.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5760720" cy="2286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44FF44"/>
                </a:solidFill>
                <a:latin typeface="Calibri"/>
              </a:defRPr>
            </a:pPr>
            <a:r>
              <a:t>✅  Good Prompt:</a:t>
            </a:r>
          </a:p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300" b="0">
                <a:solidFill>
                  <a:srgbClr val="00D4F5"/>
                </a:solidFill>
                <a:latin typeface="Consolas"/>
              </a:defRPr>
            </a:pPr>
            <a:r>
              <a:t>"You are a UK commercial solicitor.</a:t>
            </a:r>
            <a:br/>
            <a:r>
              <a:t>Draft a professional services agreement</a:t>
            </a:r>
            <a:br/>
            <a:r>
              <a:t>between Enriched Solutions Ltd and</a:t>
            </a:r>
            <a:br/>
            <a:r>
              <a:t>Aether Technologies Ltd for a 6-month</a:t>
            </a:r>
            <a:br/>
            <a:r>
              <a:t>AI strategy advisory. Fee: £45,000+VAT.</a:t>
            </a:r>
            <a:br/>
            <a:r>
              <a:t>Include: IP, GDPR, 30-day termination,</a:t>
            </a:r>
            <a:br/>
            <a:r>
              <a:t>key personnel. Formal but readable.</a:t>
            </a:r>
            <a:br/>
            <a:r>
              <a:t>Numbered clauses, Word-ready."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11430000" cy="2926080"/>
          </a:xfrm>
          <a:prstGeom prst="rect">
            <a:avLst/>
          </a:prstGeom>
          <a:solidFill>
            <a:srgbClr val="2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>
                <a:solidFill>
                  <a:srgbClr val="FF6B35"/>
                </a:solidFill>
                <a:latin typeface="Calibri"/>
              </a:defRPr>
            </a:pPr>
            <a:r>
              <a:t>⚡ Pro Tips — Quick-Fire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🔄 Iterate  —  Your first prompt is a draft. Read output, refine. 3 rounds beats 1 'perfect' prompt.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🎯 Be Specific  —  "Analyse" is vague. "Calculate gross margin and EBITDA for Q1-Q4" is actionable.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📝 Give Examples  —  One good example of tone/format &gt; 100 words of instruction.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🚫 Say What You Don't Want  —  "Don't use bullet points" / "Don't make up data" / "No American spelling"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🔗 Chain Prompts  —  Break complex tasks into steps. Research first, THEN write the report.</a:t>
            </a:r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🧠 "Think Step by Step"  —  For complex reasoning, explicitly ask AI to show its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Prompt engineering is the new professional literacy. Learn it once — it transfers to every AI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